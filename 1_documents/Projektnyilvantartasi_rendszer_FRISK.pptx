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0" r:id="rId4"/>
    <p:sldMasterId id="2147483793" r:id="rId5"/>
    <p:sldMasterId id="2147483807" r:id="rId6"/>
    <p:sldMasterId id="2147483648" r:id="rId7"/>
  </p:sldMasterIdLst>
  <p:notesMasterIdLst>
    <p:notesMasterId r:id="rId19"/>
  </p:notesMasterIdLst>
  <p:sldIdLst>
    <p:sldId id="256" r:id="rId8"/>
    <p:sldId id="813" r:id="rId9"/>
    <p:sldId id="802" r:id="rId10"/>
    <p:sldId id="804" r:id="rId11"/>
    <p:sldId id="803" r:id="rId12"/>
    <p:sldId id="809" r:id="rId13"/>
    <p:sldId id="814" r:id="rId14"/>
    <p:sldId id="810" r:id="rId15"/>
    <p:sldId id="816" r:id="rId16"/>
    <p:sldId id="815" r:id="rId17"/>
    <p:sldId id="817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4">
          <p15:clr>
            <a:srgbClr val="A4A3A4"/>
          </p15:clr>
        </p15:guide>
        <p15:guide id="2" orient="horz" pos="4152">
          <p15:clr>
            <a:srgbClr val="A4A3A4"/>
          </p15:clr>
        </p15:guide>
        <p15:guide id="3" orient="horz" pos="269">
          <p15:clr>
            <a:srgbClr val="A4A3A4"/>
          </p15:clr>
        </p15:guide>
        <p15:guide id="4" orient="horz" pos="715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3598">
          <p15:clr>
            <a:srgbClr val="A4A3A4"/>
          </p15:clr>
        </p15:guide>
        <p15:guide id="7" orient="horz" pos="4026">
          <p15:clr>
            <a:srgbClr val="A4A3A4"/>
          </p15:clr>
        </p15:guide>
        <p15:guide id="8" pos="7449">
          <p15:clr>
            <a:srgbClr val="A4A3A4"/>
          </p15:clr>
        </p15:guide>
        <p15:guide id="9" pos="3840">
          <p15:clr>
            <a:srgbClr val="A4A3A4"/>
          </p15:clr>
        </p15:guide>
        <p15:guide id="10" pos="2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23F"/>
    <a:srgbClr val="00AEC3"/>
    <a:srgbClr val="717171"/>
    <a:srgbClr val="A95D84"/>
    <a:srgbClr val="E6304B"/>
    <a:srgbClr val="E7E7E7"/>
    <a:srgbClr val="C0C0C0"/>
    <a:srgbClr val="989898"/>
    <a:srgbClr val="000000"/>
    <a:srgbClr val="C8D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476" autoAdjust="0"/>
  </p:normalViewPr>
  <p:slideViewPr>
    <p:cSldViewPr snapToGrid="0" showGuides="1">
      <p:cViewPr varScale="1">
        <p:scale>
          <a:sx n="112" d="100"/>
          <a:sy n="112" d="100"/>
        </p:scale>
        <p:origin x="882" y="522"/>
      </p:cViewPr>
      <p:guideLst>
        <p:guide orient="horz" pos="1074"/>
        <p:guide orient="horz" pos="4152"/>
        <p:guide orient="horz" pos="269"/>
        <p:guide orient="horz" pos="715"/>
        <p:guide orient="horz" pos="2160"/>
        <p:guide orient="horz" pos="3598"/>
        <p:guide orient="horz" pos="4026"/>
        <p:guide pos="7449"/>
        <p:guide pos="3840"/>
        <p:guide pos="2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034" y="10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t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t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29DC8-987C-4BF4-9A49-8F549F1F3D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7" name="Graphic 7">
            <a:extLst>
              <a:ext uri="{FF2B5EF4-FFF2-40B4-BE49-F238E27FC236}">
                <a16:creationId xmlns:a16="http://schemas.microsoft.com/office/drawing/2014/main" id="{9AD07175-8FA3-467C-BF0E-A3682BA12240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/>
          <a:stretch/>
        </p:blipFill>
        <p:spPr>
          <a:xfrm>
            <a:off x="360004" y="668615"/>
            <a:ext cx="4882530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hu-HU"/>
              <a:t>Kép beszúrásához kattintson az ikonra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204BD9-791F-4462-94DF-8A2200C9C0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11" name="Graphic 7">
            <a:extLst>
              <a:ext uri="{FF2B5EF4-FFF2-40B4-BE49-F238E27FC236}">
                <a16:creationId xmlns:a16="http://schemas.microsoft.com/office/drawing/2014/main" id="{80A80ADE-7204-437A-8E1D-7D768AD17AE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/>
        </p:blipFill>
        <p:spPr>
          <a:xfrm>
            <a:off x="360004" y="668615"/>
            <a:ext cx="4882530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8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29DC8-987C-4BF4-9A49-8F549F1F3D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A357B3-A162-42FE-A7EE-AAF4775236F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/>
          <a:stretch/>
        </p:blipFill>
        <p:spPr>
          <a:xfrm>
            <a:off x="369667" y="668615"/>
            <a:ext cx="4863204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hu-HU"/>
              <a:t>Kép beszúrásához kattintson az ikonra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E5983F-1C73-4C4D-87D7-63EED188ED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11" name="Graphic 7">
            <a:extLst>
              <a:ext uri="{FF2B5EF4-FFF2-40B4-BE49-F238E27FC236}">
                <a16:creationId xmlns:a16="http://schemas.microsoft.com/office/drawing/2014/main" id="{9C5CF889-0A19-4ABF-A43D-9DE7319496E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/>
        </p:blipFill>
        <p:spPr>
          <a:xfrm>
            <a:off x="369667" y="668615"/>
            <a:ext cx="4863204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1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14138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3374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48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F0CD56-CDEF-4F99-82E9-F8344BA7D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17232-4933-4B44-AB0A-14F73524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152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6C412-8D9A-4518-BD82-093D1D70B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D1434-081E-42DD-A0E7-8AD211AD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03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EE70F8-6350-4489-8BF1-B1E111BC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CCAD9-3BB6-43FD-8F71-48FD5880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24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0BAE0-3503-40B7-97FF-3BBA5C4DD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2D4FE-2A34-4C36-A765-CE00B991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57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A155B-CCB9-45EF-83E7-A4F386C3D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BAB9-04B4-4317-A1F0-FDDB9A12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25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184D5-78E0-4646-8F38-C52C718FF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02832-2B66-4562-9C71-D7D15073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A3869-0626-4D7E-A07F-ED2B248D2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845BF-B227-4307-81B9-E7C8FC57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856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0EB60-D174-4782-B63F-DCF2657E1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526FD-FB6E-4148-89B3-7D266E27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80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AA46E-1017-4823-B4EC-B35766CE6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1B86A-68D0-4D2D-A5CB-00F231C8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89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794D1-DF29-4B89-9359-EE65C8A56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72A83-22C7-42BE-87D1-B99FEC13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717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A02C0-437A-4731-B690-16D1AFCAA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C7B4E-73B3-4F33-A7FC-00F64BC9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62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EFCC3-809C-4472-825A-5268DA759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A7757-8EC5-4D12-B56F-AB9F88D6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4684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hu-HU"/>
              <a:t>Kép beszúrásához kattintson az ikonra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0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AACB8-7B00-457D-8F89-FB4DD9039A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56072-910B-4986-8C02-A52A7544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4684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hu-HU"/>
              <a:t>Kép beszúrásához kattintson az ikonra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36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60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B2F2EE-42BB-4EB6-8FC2-5E56E4F34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75A20-F354-407F-8F71-92C91474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834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84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 + heading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F0CD56-CDEF-4F99-82E9-F8344BA7D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17232-4933-4B44-AB0A-14F73524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034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6C412-8D9A-4518-BD82-093D1D70B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D1434-081E-42DD-A0E7-8AD211AD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31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 + headings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EE70F8-6350-4489-8BF1-B1E111BC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CCAD9-3BB6-43FD-8F71-48FD5880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51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0BAE0-3503-40B7-97FF-3BBA5C4DD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2D4FE-2A34-4C36-A765-CE00B991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39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 + headings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A155B-CCB9-45EF-83E7-A4F386C3D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BAB9-04B4-4317-A1F0-FDDB9A12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994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184D5-78E0-4646-8F38-C52C718FF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02832-2B66-4562-9C71-D7D15073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938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 + headings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A3869-0626-4D7E-A07F-ED2B248D2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845BF-B227-4307-81B9-E7C8FC57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146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0EB60-D174-4782-B63F-DCF2657E1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526FD-FB6E-4148-89B3-7D266E27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56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 + headings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AA46E-1017-4823-B4EC-B35766CE6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1B86A-68D0-4D2D-A5CB-00F231C8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770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794D1-DF29-4B89-9359-EE65C8A56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72A83-22C7-42BE-87D1-B99FEC13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 + headings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A02C0-437A-4731-B690-16D1AFCAA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C7B4E-73B3-4F33-A7FC-00F64BC9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90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02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6FF685-0455-410C-BAD6-9C18A6B82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994E6-33EF-41B4-9B8F-14CDAEC3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00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ti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1.tif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9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8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.ti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tags" Target="../tags/tag11.xml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6397"/>
            <a:chOff x="-1143000" y="-600255"/>
            <a:chExt cx="13680281" cy="6916397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54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EAE3B3-5D06-4E3B-A398-C6BC23EA7359}"/>
                </a:ext>
              </a:extLst>
            </p:cNvPr>
            <p:cNvSpPr txBox="1"/>
            <p:nvPr userDrawn="1"/>
          </p:nvSpPr>
          <p:spPr>
            <a:xfrm>
              <a:off x="-747711" y="606992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62E1CA-16B1-4204-B4FF-F9B26DDEE92A}"/>
                </a:ext>
              </a:extLst>
            </p:cNvPr>
            <p:cNvSpPr txBox="1"/>
            <p:nvPr userDrawn="1"/>
          </p:nvSpPr>
          <p:spPr>
            <a:xfrm>
              <a:off x="-1143000" y="619303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5639F-9E76-41B0-BB57-8F8A1F600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4">
            <a:extLst>
              <a:ext uri="{FF2B5EF4-FFF2-40B4-BE49-F238E27FC236}">
                <a16:creationId xmlns:a16="http://schemas.microsoft.com/office/drawing/2014/main" id="{7373042F-F19E-41EF-B045-9F05064ED2FB}"/>
              </a:ext>
            </a:extLst>
          </p:cNvPr>
          <p:cNvPicPr>
            <a:picLocks noChangeAspect="1"/>
          </p:cNvPicPr>
          <p:nvPr userDrawn="1">
            <p:custDataLst>
              <p:tags r:id="rId25"/>
            </p:custDataLst>
          </p:nvPr>
        </p:nvPicPr>
        <p:blipFill>
          <a:blip r:embed="rId26"/>
          <a:srcRect/>
          <a:stretch/>
        </p:blipFill>
        <p:spPr>
          <a:xfrm>
            <a:off x="360013" y="6385825"/>
            <a:ext cx="2728473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6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5639F-9E76-41B0-BB57-8F8A1F600167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9288FA0-CCB3-4AD1-A2D0-59345989BE23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397"/>
            <a:chOff x="-1143000" y="-600255"/>
            <a:chExt cx="13680281" cy="6916397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206775-191C-4462-9E00-F57640201ABE}"/>
                </a:ext>
              </a:extLst>
            </p:cNvPr>
            <p:cNvCxnSpPr/>
            <p:nvPr userDrawn="1"/>
          </p:nvCxnSpPr>
          <p:spPr>
            <a:xfrm>
              <a:off x="-256200" y="61454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B3AE6A6-0B1D-47AF-8D08-88E95C95C4ED}"/>
                </a:ext>
              </a:extLst>
            </p:cNvPr>
            <p:cNvSpPr txBox="1"/>
            <p:nvPr userDrawn="1"/>
          </p:nvSpPr>
          <p:spPr>
            <a:xfrm>
              <a:off x="-747711" y="606992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763921-A26B-42B2-A91D-7EDFBE000C85}"/>
                </a:ext>
              </a:extLst>
            </p:cNvPr>
            <p:cNvSpPr txBox="1"/>
            <p:nvPr userDrawn="1"/>
          </p:nvSpPr>
          <p:spPr>
            <a:xfrm>
              <a:off x="-1143000" y="619303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4">
            <a:extLst>
              <a:ext uri="{FF2B5EF4-FFF2-40B4-BE49-F238E27FC236}">
                <a16:creationId xmlns:a16="http://schemas.microsoft.com/office/drawing/2014/main" id="{C1828024-A620-4B6B-B6A8-B57825674B1D}"/>
              </a:ext>
            </a:extLst>
          </p:cNvPr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rcRect/>
          <a:stretch/>
        </p:blipFill>
        <p:spPr>
          <a:xfrm>
            <a:off x="360013" y="6385825"/>
            <a:ext cx="2728473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2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6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5639F-9E76-41B0-BB57-8F8A1F600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4">
            <a:extLst>
              <a:ext uri="{FF2B5EF4-FFF2-40B4-BE49-F238E27FC236}">
                <a16:creationId xmlns:a16="http://schemas.microsoft.com/office/drawing/2014/main" id="{C5F499B3-B0A6-4484-B5A0-2D4B9064F849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/>
        </p:blipFill>
        <p:spPr>
          <a:xfrm>
            <a:off x="360013" y="6385825"/>
            <a:ext cx="2728473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0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43000" y="-438330"/>
            <a:ext cx="13716000" cy="6621721"/>
            <a:chOff x="-1143000" y="-438330"/>
            <a:chExt cx="13716000" cy="6621721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11826875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256200" y="113823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 userDrawn="1"/>
          </p:nvSpPr>
          <p:spPr>
            <a:xfrm>
              <a:off x="-747711" y="107558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3.16cm</a:t>
              </a:r>
            </a:p>
          </p:txBody>
        </p:sp>
        <p:cxnSp>
          <p:nvCxnSpPr>
            <p:cNvPr id="21" name="Straight Connector 20"/>
            <p:cNvCxnSpPr/>
            <p:nvPr userDrawn="1"/>
          </p:nvCxnSpPr>
          <p:spPr>
            <a:xfrm>
              <a:off x="-256200" y="2282296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-256200" y="2854325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-256200" y="3998383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-256200" y="4570412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-256200" y="5142441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4935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2120034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309071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06140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5032086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600277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6973454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794413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891482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85506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085619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04900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007727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9105543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8133816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71620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5218635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>
              <a:off x="424690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>
            <a:xfrm>
              <a:off x="327518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>
            <a:xfrm>
              <a:off x="2303454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1331727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4.75cm</a:t>
              </a:r>
            </a:p>
          </p:txBody>
        </p:sp>
        <p:sp>
          <p:nvSpPr>
            <p:cNvPr id="52" name="TextBox 51"/>
            <p:cNvSpPr txBox="1"/>
            <p:nvPr userDrawn="1"/>
          </p:nvSpPr>
          <p:spPr>
            <a:xfrm>
              <a:off x="-747711" y="221673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6.34cm</a:t>
              </a:r>
            </a:p>
          </p:txBody>
        </p:sp>
        <p:sp>
          <p:nvSpPr>
            <p:cNvPr id="53" name="TextBox 52"/>
            <p:cNvSpPr txBox="1"/>
            <p:nvPr userDrawn="1"/>
          </p:nvSpPr>
          <p:spPr>
            <a:xfrm>
              <a:off x="-747711" y="278730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7.93cm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9.52cm</a:t>
              </a:r>
            </a:p>
          </p:txBody>
        </p:sp>
        <p:sp>
          <p:nvSpPr>
            <p:cNvPr id="55" name="TextBox 54"/>
            <p:cNvSpPr txBox="1"/>
            <p:nvPr userDrawn="1"/>
          </p:nvSpPr>
          <p:spPr>
            <a:xfrm>
              <a:off x="-747711" y="392846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11.11cm</a:t>
              </a:r>
            </a:p>
          </p:txBody>
        </p:sp>
        <p:sp>
          <p:nvSpPr>
            <p:cNvPr id="56" name="TextBox 55"/>
            <p:cNvSpPr txBox="1"/>
            <p:nvPr userDrawn="1"/>
          </p:nvSpPr>
          <p:spPr>
            <a:xfrm>
              <a:off x="-747711" y="44990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12.70cm</a:t>
              </a: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-747711" y="506961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14.29cm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15.87cm</a:t>
              </a:r>
            </a:p>
          </p:txBody>
        </p:sp>
        <p:sp>
          <p:nvSpPr>
            <p:cNvPr id="59" name="TextBox 58"/>
            <p:cNvSpPr txBox="1"/>
            <p:nvPr userDrawn="1"/>
          </p:nvSpPr>
          <p:spPr>
            <a:xfrm>
              <a:off x="-747711" y="606028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17.00cm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1.00cm</a:t>
              </a:r>
            </a:p>
          </p:txBody>
        </p:sp>
        <p:sp>
          <p:nvSpPr>
            <p:cNvPr id="61" name="TextBox 60"/>
            <p:cNvSpPr txBox="1"/>
            <p:nvPr userDrawn="1"/>
          </p:nvSpPr>
          <p:spPr>
            <a:xfrm>
              <a:off x="1276838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3.70cm</a:t>
              </a: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2248876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6.40cm</a:t>
              </a: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3220914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9.10cm</a:t>
              </a:r>
            </a:p>
          </p:txBody>
        </p:sp>
        <p:sp>
          <p:nvSpPr>
            <p:cNvPr id="64" name="TextBox 63"/>
            <p:cNvSpPr txBox="1"/>
            <p:nvPr userDrawn="1"/>
          </p:nvSpPr>
          <p:spPr>
            <a:xfrm>
              <a:off x="4192952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11.80cm</a:t>
              </a:r>
            </a:p>
          </p:txBody>
        </p:sp>
        <p:sp>
          <p:nvSpPr>
            <p:cNvPr id="65" name="TextBox 64"/>
            <p:cNvSpPr txBox="1"/>
            <p:nvPr userDrawn="1"/>
          </p:nvSpPr>
          <p:spPr>
            <a:xfrm>
              <a:off x="516499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14.50cm</a:t>
              </a:r>
            </a:p>
          </p:txBody>
        </p:sp>
        <p:sp>
          <p:nvSpPr>
            <p:cNvPr id="66" name="TextBox 65"/>
            <p:cNvSpPr txBox="1"/>
            <p:nvPr userDrawn="1"/>
          </p:nvSpPr>
          <p:spPr>
            <a:xfrm>
              <a:off x="6137028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17.20cm</a:t>
              </a:r>
            </a:p>
          </p:txBody>
        </p:sp>
        <p:sp>
          <p:nvSpPr>
            <p:cNvPr id="67" name="TextBox 66"/>
            <p:cNvSpPr txBox="1"/>
            <p:nvPr userDrawn="1"/>
          </p:nvSpPr>
          <p:spPr>
            <a:xfrm>
              <a:off x="7109066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9.90cm</a:t>
              </a:r>
            </a:p>
          </p:txBody>
        </p:sp>
        <p:sp>
          <p:nvSpPr>
            <p:cNvPr id="68" name="TextBox 67"/>
            <p:cNvSpPr txBox="1"/>
            <p:nvPr userDrawn="1"/>
          </p:nvSpPr>
          <p:spPr>
            <a:xfrm>
              <a:off x="8081104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22.60cm</a:t>
              </a:r>
            </a:p>
          </p:txBody>
        </p:sp>
        <p:sp>
          <p:nvSpPr>
            <p:cNvPr id="69" name="TextBox 68"/>
            <p:cNvSpPr txBox="1"/>
            <p:nvPr userDrawn="1"/>
          </p:nvSpPr>
          <p:spPr>
            <a:xfrm>
              <a:off x="9053142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25.30cm</a:t>
              </a:r>
            </a:p>
          </p:txBody>
        </p:sp>
        <p:sp>
          <p:nvSpPr>
            <p:cNvPr id="70" name="TextBox 69"/>
            <p:cNvSpPr txBox="1"/>
            <p:nvPr userDrawn="1"/>
          </p:nvSpPr>
          <p:spPr>
            <a:xfrm>
              <a:off x="1002518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27.99cm</a:t>
              </a:r>
            </a:p>
          </p:txBody>
        </p:sp>
        <p:sp>
          <p:nvSpPr>
            <p:cNvPr id="71" name="TextBox 70"/>
            <p:cNvSpPr txBox="1"/>
            <p:nvPr userDrawn="1"/>
          </p:nvSpPr>
          <p:spPr>
            <a:xfrm>
              <a:off x="10997215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30.69cm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6175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32.85cm</a:t>
              </a:r>
            </a:p>
          </p:txBody>
        </p:sp>
        <p:sp>
          <p:nvSpPr>
            <p:cNvPr id="74" name="TextBox 73"/>
            <p:cNvSpPr txBox="1"/>
            <p:nvPr userDrawn="1"/>
          </p:nvSpPr>
          <p:spPr>
            <a:xfrm>
              <a:off x="1049078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30.16cm</a:t>
              </a:r>
            </a:p>
          </p:txBody>
        </p:sp>
        <p:sp>
          <p:nvSpPr>
            <p:cNvPr id="75" name="TextBox 74"/>
            <p:cNvSpPr txBox="1"/>
            <p:nvPr userDrawn="1"/>
          </p:nvSpPr>
          <p:spPr>
            <a:xfrm>
              <a:off x="9519807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27.46cm</a:t>
              </a:r>
            </a:p>
          </p:txBody>
        </p:sp>
        <p:sp>
          <p:nvSpPr>
            <p:cNvPr id="76" name="TextBox 75"/>
            <p:cNvSpPr txBox="1"/>
            <p:nvPr userDrawn="1"/>
          </p:nvSpPr>
          <p:spPr>
            <a:xfrm>
              <a:off x="8548834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24.76cm</a:t>
              </a: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757786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22.07cm</a:t>
              </a:r>
            </a:p>
          </p:txBody>
        </p:sp>
        <p:sp>
          <p:nvSpPr>
            <p:cNvPr id="78" name="TextBox 77"/>
            <p:cNvSpPr txBox="1"/>
            <p:nvPr userDrawn="1"/>
          </p:nvSpPr>
          <p:spPr>
            <a:xfrm>
              <a:off x="6606888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19.37cm</a:t>
              </a:r>
            </a:p>
          </p:txBody>
        </p:sp>
        <p:sp>
          <p:nvSpPr>
            <p:cNvPr id="79" name="TextBox 78"/>
            <p:cNvSpPr txBox="1"/>
            <p:nvPr userDrawn="1"/>
          </p:nvSpPr>
          <p:spPr>
            <a:xfrm>
              <a:off x="5635915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16.67cm</a:t>
              </a:r>
            </a:p>
          </p:txBody>
        </p:sp>
        <p:sp>
          <p:nvSpPr>
            <p:cNvPr id="80" name="TextBox 79"/>
            <p:cNvSpPr txBox="1"/>
            <p:nvPr userDrawn="1"/>
          </p:nvSpPr>
          <p:spPr>
            <a:xfrm>
              <a:off x="4664942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13.98cm</a:t>
              </a:r>
            </a:p>
          </p:txBody>
        </p:sp>
        <p:sp>
          <p:nvSpPr>
            <p:cNvPr id="81" name="TextBox 80"/>
            <p:cNvSpPr txBox="1"/>
            <p:nvPr userDrawn="1"/>
          </p:nvSpPr>
          <p:spPr>
            <a:xfrm>
              <a:off x="3693969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11.28cm</a:t>
              </a:r>
            </a:p>
          </p:txBody>
        </p:sp>
        <p:sp>
          <p:nvSpPr>
            <p:cNvPr id="82" name="TextBox 81"/>
            <p:cNvSpPr txBox="1"/>
            <p:nvPr userDrawn="1"/>
          </p:nvSpPr>
          <p:spPr>
            <a:xfrm>
              <a:off x="2722996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8.59cm</a:t>
              </a:r>
            </a:p>
          </p:txBody>
        </p:sp>
        <p:sp>
          <p:nvSpPr>
            <p:cNvPr id="83" name="TextBox 82"/>
            <p:cNvSpPr txBox="1"/>
            <p:nvPr userDrawn="1"/>
          </p:nvSpPr>
          <p:spPr>
            <a:xfrm>
              <a:off x="1752023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5.89cm</a:t>
              </a:r>
            </a:p>
          </p:txBody>
        </p:sp>
        <p:sp>
          <p:nvSpPr>
            <p:cNvPr id="84" name="TextBox 83"/>
            <p:cNvSpPr txBox="1"/>
            <p:nvPr userDrawn="1"/>
          </p:nvSpPr>
          <p:spPr>
            <a:xfrm>
              <a:off x="78105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3.19cm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0000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7" name="TextBox 86"/>
            <p:cNvSpPr txBox="1"/>
            <p:nvPr userDrawn="1"/>
          </p:nvSpPr>
          <p:spPr>
            <a:xfrm>
              <a:off x="-1143000" y="119869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Heading Baseline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933758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</p:grpSp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7043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hu-HU"/>
              <a:t>Mintacím szerkesztése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08150"/>
            <a:ext cx="11466875" cy="4003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 dirty="0"/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94" name="Straight Connector 93"/>
          <p:cNvCxnSpPr/>
          <p:nvPr/>
        </p:nvCxnSpPr>
        <p:spPr>
          <a:xfrm>
            <a:off x="0" y="6124991"/>
            <a:ext cx="12193200" cy="0"/>
          </a:xfrm>
          <a:prstGeom prst="line">
            <a:avLst/>
          </a:prstGeom>
          <a:ln w="19050">
            <a:gradFill>
              <a:gsLst>
                <a:gs pos="0">
                  <a:srgbClr val="F2DA64"/>
                </a:gs>
                <a:gs pos="18000">
                  <a:srgbClr val="A27700"/>
                </a:gs>
                <a:gs pos="71000">
                  <a:srgbClr val="D7B446"/>
                </a:gs>
                <a:gs pos="51000">
                  <a:srgbClr val="F2DA64"/>
                </a:gs>
                <a:gs pos="100000">
                  <a:srgbClr val="9870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Graphic 34">
            <a:extLst>
              <a:ext uri="{FF2B5EF4-FFF2-40B4-BE49-F238E27FC236}">
                <a16:creationId xmlns:a16="http://schemas.microsoft.com/office/drawing/2014/main" id="{5D4EAC59-F6AD-436A-B7C3-608C193750C6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/>
        </p:blipFill>
        <p:spPr>
          <a:xfrm>
            <a:off x="360013" y="6385825"/>
            <a:ext cx="2728473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0975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2925" indent="-180975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145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7" userDrawn="1">
          <p15:clr>
            <a:srgbClr val="A4A3A4"/>
          </p15:clr>
        </p15:guide>
        <p15:guide id="2" orient="horz" pos="2159" userDrawn="1">
          <p15:clr>
            <a:srgbClr val="A4A3A4"/>
          </p15:clr>
        </p15:guide>
        <p15:guide id="3" pos="725" userDrawn="1">
          <p15:clr>
            <a:srgbClr val="A4A3A4"/>
          </p15:clr>
        </p15:guide>
        <p15:guide id="4" pos="842" userDrawn="1">
          <p15:clr>
            <a:srgbClr val="A4A3A4"/>
          </p15:clr>
        </p15:guide>
        <p15:guide id="5" pos="1335" userDrawn="1">
          <p15:clr>
            <a:srgbClr val="A4A3A4"/>
          </p15:clr>
        </p15:guide>
        <p15:guide id="6" pos="1454" userDrawn="1">
          <p15:clr>
            <a:srgbClr val="A4A3A4"/>
          </p15:clr>
        </p15:guide>
        <p15:guide id="7" pos="1947" userDrawn="1">
          <p15:clr>
            <a:srgbClr val="A4A3A4"/>
          </p15:clr>
        </p15:guide>
        <p15:guide id="8" pos="2064" userDrawn="1">
          <p15:clr>
            <a:srgbClr val="A4A3A4"/>
          </p15:clr>
        </p15:guide>
        <p15:guide id="9" pos="2558" userDrawn="1">
          <p15:clr>
            <a:srgbClr val="A4A3A4"/>
          </p15:clr>
        </p15:guide>
        <p15:guide id="10" pos="2678" userDrawn="1">
          <p15:clr>
            <a:srgbClr val="A4A3A4"/>
          </p15:clr>
        </p15:guide>
        <p15:guide id="11" pos="3170" userDrawn="1">
          <p15:clr>
            <a:srgbClr val="A4A3A4"/>
          </p15:clr>
        </p15:guide>
        <p15:guide id="12" pos="3288" userDrawn="1">
          <p15:clr>
            <a:srgbClr val="A4A3A4"/>
          </p15:clr>
        </p15:guide>
        <p15:guide id="13" pos="3780" userDrawn="1">
          <p15:clr>
            <a:srgbClr val="A4A3A4"/>
          </p15:clr>
        </p15:guide>
        <p15:guide id="14" pos="3900" userDrawn="1">
          <p15:clr>
            <a:srgbClr val="A4A3A4"/>
          </p15:clr>
        </p15:guide>
        <p15:guide id="15" pos="4392" userDrawn="1">
          <p15:clr>
            <a:srgbClr val="A4A3A4"/>
          </p15:clr>
        </p15:guide>
        <p15:guide id="16" pos="4512" userDrawn="1">
          <p15:clr>
            <a:srgbClr val="A4A3A4"/>
          </p15:clr>
        </p15:guide>
        <p15:guide id="17" pos="5124" userDrawn="1">
          <p15:clr>
            <a:srgbClr val="A4A3A4"/>
          </p15:clr>
        </p15:guide>
        <p15:guide id="18" pos="5004" userDrawn="1">
          <p15:clr>
            <a:srgbClr val="A4A3A4"/>
          </p15:clr>
        </p15:guide>
        <p15:guide id="19" pos="5616" userDrawn="1">
          <p15:clr>
            <a:srgbClr val="A4A3A4"/>
          </p15:clr>
        </p15:guide>
        <p15:guide id="20" pos="5736" userDrawn="1">
          <p15:clr>
            <a:srgbClr val="A4A3A4"/>
          </p15:clr>
        </p15:guide>
        <p15:guide id="21" pos="6227" userDrawn="1">
          <p15:clr>
            <a:srgbClr val="A4A3A4"/>
          </p15:clr>
        </p15:guide>
        <p15:guide id="22" pos="6348" userDrawn="1">
          <p15:clr>
            <a:srgbClr val="A4A3A4"/>
          </p15:clr>
        </p15:guide>
        <p15:guide id="23" pos="6839" userDrawn="1">
          <p15:clr>
            <a:srgbClr val="A4A3A4"/>
          </p15:clr>
        </p15:guide>
        <p15:guide id="24" pos="6960" userDrawn="1">
          <p15:clr>
            <a:srgbClr val="A4A3A4"/>
          </p15:clr>
        </p15:guide>
        <p15:guide id="25" pos="7451" userDrawn="1">
          <p15:clr>
            <a:srgbClr val="A4A3A4"/>
          </p15:clr>
        </p15:guide>
        <p15:guide id="26" orient="horz" pos="1799" userDrawn="1">
          <p15:clr>
            <a:srgbClr val="A4A3A4"/>
          </p15:clr>
        </p15:guide>
        <p15:guide id="27" orient="horz" pos="1437" userDrawn="1">
          <p15:clr>
            <a:srgbClr val="A4A3A4"/>
          </p15:clr>
        </p15:guide>
        <p15:guide id="28" orient="horz" pos="1077" userDrawn="1">
          <p15:clr>
            <a:srgbClr val="A4A3A4"/>
          </p15:clr>
        </p15:guide>
        <p15:guide id="29" orient="horz" pos="717" userDrawn="1">
          <p15:clr>
            <a:srgbClr val="A4A3A4"/>
          </p15:clr>
        </p15:guide>
        <p15:guide id="30" orient="horz" pos="2519" userDrawn="1">
          <p15:clr>
            <a:srgbClr val="A4A3A4"/>
          </p15:clr>
        </p15:guide>
        <p15:guide id="31" orient="horz" pos="2879" userDrawn="1">
          <p15:clr>
            <a:srgbClr val="A4A3A4"/>
          </p15:clr>
        </p15:guide>
        <p15:guide id="32" orient="horz" pos="3240" userDrawn="1">
          <p15:clr>
            <a:srgbClr val="A4A3A4"/>
          </p15:clr>
        </p15:guide>
        <p15:guide id="33" orient="horz" pos="3600" userDrawn="1">
          <p15:clr>
            <a:srgbClr val="A4A3A4"/>
          </p15:clr>
        </p15:guide>
        <p15:guide id="34" orient="horz" pos="385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60000" y="1490400"/>
            <a:ext cx="4212000" cy="1976400"/>
          </a:xfrm>
        </p:spPr>
        <p:txBody>
          <a:bodyPr/>
          <a:lstStyle/>
          <a:p>
            <a:r>
              <a:rPr lang="hu-HU" dirty="0"/>
              <a:t>Projekt nyilvántartási rendszer</a:t>
            </a:r>
            <a:endParaRPr lang="hu-HU" b="0" i="1" dirty="0"/>
          </a:p>
        </p:txBody>
      </p:sp>
      <p:sp>
        <p:nvSpPr>
          <p:cNvPr id="7" name="Alcím 6">
            <a:extLst>
              <a:ext uri="{FF2B5EF4-FFF2-40B4-BE49-F238E27FC236}">
                <a16:creationId xmlns:a16="http://schemas.microsoft.com/office/drawing/2014/main" id="{B870A018-5749-46F7-96D3-FA999A398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Hogyan tervezzük?</a:t>
            </a:r>
          </a:p>
          <a:p>
            <a:r>
              <a:rPr lang="hu-HU" dirty="0"/>
              <a:t>Milyen feladatok vannak?</a:t>
            </a:r>
          </a:p>
          <a:p>
            <a:endParaRPr lang="en-US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EB4C81D-EFF5-0FC1-C462-62DA9077C2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Kép 8" descr="A képen személy látható">
            <a:extLst>
              <a:ext uri="{FF2B5EF4-FFF2-40B4-BE49-F238E27FC236}">
                <a16:creationId xmlns:a16="http://schemas.microsoft.com/office/drawing/2014/main" id="{F40FC29F-8EA4-C29A-82CE-C97927C5E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23060"/>
            <a:ext cx="7559473" cy="533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8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11FF-9687-1B6C-8A34-BA2E2AF2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B4437D6F-9377-0AF8-9743-C8248496DF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Indulópont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F64FF6-8A4D-EB57-CACD-E7BD63CF44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6819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5F9E56-31EB-4815-12BC-63B590F7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Háttér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0203D46-BB9F-17B3-6F46-F9F4C2EF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6E246F4-7B75-C880-845F-43EA7AAC4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20DB69A-9D2A-CA4B-A76E-70241E5DCD1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>
              <a:buSzPct val="100000"/>
            </a:pPr>
            <a:r>
              <a:rPr lang="hu-HU" sz="1600" dirty="0"/>
              <a:t>Jelenlegi projekt nyilvántartási / elszámolási rendszer nem alkalmas a működés pontos lefedésére, a tervezés elkészítésére, az operatív feladatok hatékony végzésére</a:t>
            </a:r>
            <a:endParaRPr lang="en-US" sz="16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7877F7B-FD87-BDA9-B899-5A41B9617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11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5F9E56-31EB-4815-12BC-63B590F7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Honnan érkezünk?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0203D46-BB9F-17B3-6F46-F9F4C2EF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20DB69A-9D2A-CA4B-A76E-70241E5DCD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874" y="833918"/>
            <a:ext cx="11466000" cy="3999600"/>
          </a:xfrm>
        </p:spPr>
        <p:txBody>
          <a:bodyPr/>
          <a:lstStyle/>
          <a:p>
            <a:pPr marL="0" lvl="1" indent="0">
              <a:buSzPct val="100000"/>
              <a:buNone/>
            </a:pPr>
            <a:r>
              <a:rPr lang="hu-HU" sz="1600" dirty="0"/>
              <a:t>A jelenlegi gyakorlatot sok ponton meghaladta az idő</a:t>
            </a:r>
          </a:p>
          <a:p>
            <a:pPr lvl="1">
              <a:buSzPct val="100000"/>
              <a:buFont typeface="Arial" panose="020B0604020202020204" pitchFamily="34" charset="0"/>
              <a:buChar char="ꟷ"/>
            </a:pPr>
            <a:endParaRPr lang="hu-HU" sz="1600" dirty="0"/>
          </a:p>
          <a:p>
            <a:pPr lvl="1">
              <a:buSzPct val="100000"/>
              <a:buFont typeface="Arial" panose="020B0604020202020204" pitchFamily="34" charset="0"/>
              <a:buChar char="ꟷ"/>
            </a:pPr>
            <a:r>
              <a:rPr lang="hu-HU" sz="1600" dirty="0"/>
              <a:t>A szolgáltatásaink szélesedtek (pl. szemiotika, sokországos </a:t>
            </a:r>
            <a:r>
              <a:rPr lang="hu-HU" sz="1600" dirty="0" err="1"/>
              <a:t>tracking</a:t>
            </a:r>
            <a:r>
              <a:rPr lang="hu-HU" sz="1600" dirty="0"/>
              <a:t>, stb.)</a:t>
            </a:r>
          </a:p>
          <a:p>
            <a:pPr lvl="2">
              <a:buSzPct val="100000"/>
            </a:pPr>
            <a:r>
              <a:rPr lang="hu-HU" sz="1600" dirty="0"/>
              <a:t>A kapcsolódó munkaórák sokrétűbbek / komplexebbek</a:t>
            </a:r>
          </a:p>
          <a:p>
            <a:pPr lvl="1">
              <a:buSzPct val="100000"/>
            </a:pPr>
            <a:r>
              <a:rPr lang="hu-HU" sz="1600" dirty="0"/>
              <a:t>Működésünk átalakult</a:t>
            </a:r>
          </a:p>
          <a:p>
            <a:pPr lvl="2">
              <a:buSzPct val="100000"/>
            </a:pPr>
            <a:r>
              <a:rPr lang="hu-HU" sz="1600" dirty="0"/>
              <a:t>Alvállalkozóktól veszünk igénybe olyan szolgáltatásokat, melyeket korábban házon belül kaptunk, vagy egyáltalán nem használtunk (pl. vizualizáció; </a:t>
            </a:r>
            <a:r>
              <a:rPr lang="hu-HU" sz="1600" dirty="0" err="1"/>
              <a:t>hosting</a:t>
            </a:r>
            <a:r>
              <a:rPr lang="hu-HU" sz="1600" dirty="0"/>
              <a:t>, on-line terepmunkák)</a:t>
            </a:r>
          </a:p>
          <a:p>
            <a:pPr lvl="1">
              <a:buSzPct val="100000"/>
              <a:buFont typeface="Arial" panose="020B0604020202020204" pitchFamily="34" charset="0"/>
              <a:buChar char="ꟷ"/>
            </a:pPr>
            <a:r>
              <a:rPr lang="hu-HU" sz="1600" dirty="0"/>
              <a:t>Olyan csoportosításokat végzünk, amit senki nem használ (</a:t>
            </a:r>
            <a:r>
              <a:rPr lang="hu-HU" sz="1600" dirty="0" err="1"/>
              <a:t>Retail</a:t>
            </a:r>
            <a:r>
              <a:rPr lang="hu-HU" sz="1600" dirty="0"/>
              <a:t> vs. Telekom-</a:t>
            </a:r>
            <a:r>
              <a:rPr lang="hu-HU" sz="1600" dirty="0" err="1"/>
              <a:t>Finance</a:t>
            </a:r>
            <a:r>
              <a:rPr lang="hu-HU" sz="1600" dirty="0"/>
              <a:t>, stb.)</a:t>
            </a:r>
          </a:p>
          <a:p>
            <a:pPr lvl="1">
              <a:buSzPct val="100000"/>
              <a:buFont typeface="Arial" panose="020B0604020202020204" pitchFamily="34" charset="0"/>
              <a:buChar char="ꟷ"/>
            </a:pPr>
            <a:r>
              <a:rPr lang="hu-HU" sz="1600" dirty="0"/>
              <a:t>Olyan – fontos – csoportosításokat NEM rögzítünk, amik KPI-ok:</a:t>
            </a:r>
          </a:p>
          <a:p>
            <a:pPr lvl="2">
              <a:buSzPct val="100000"/>
            </a:pPr>
            <a:r>
              <a:rPr lang="hu-HU" sz="1600" dirty="0"/>
              <a:t>Üzletszerzés</a:t>
            </a:r>
          </a:p>
          <a:p>
            <a:pPr lvl="2">
              <a:buSzPct val="100000"/>
            </a:pPr>
            <a:r>
              <a:rPr lang="hu-HU" sz="1600" dirty="0"/>
              <a:t>Projekt bonyolítás</a:t>
            </a:r>
          </a:p>
          <a:p>
            <a:pPr lvl="1">
              <a:buSzPct val="100000"/>
            </a:pPr>
            <a:r>
              <a:rPr lang="hu-HU" sz="1600" dirty="0"/>
              <a:t>Főleg komplex szolgáltatások esetében nem értelmezhető</a:t>
            </a:r>
          </a:p>
          <a:p>
            <a:pPr lvl="2">
              <a:buSzPct val="100000"/>
            </a:pPr>
            <a:r>
              <a:rPr lang="hu-HU" sz="1600" dirty="0"/>
              <a:t>Pl. kvali / kvanti / workshoppal</a:t>
            </a:r>
          </a:p>
          <a:p>
            <a:pPr lvl="1">
              <a:buSzPct val="100000"/>
              <a:buFont typeface="Arial" panose="020B0604020202020204" pitchFamily="34" charset="0"/>
              <a:buChar char="ꟷ"/>
            </a:pPr>
            <a:r>
              <a:rPr lang="hu-HU" sz="1600" dirty="0"/>
              <a:t>Más költségszerkezetben működnek (pl. Kantar elszámolások)</a:t>
            </a:r>
          </a:p>
          <a:p>
            <a:pPr lvl="1">
              <a:buSzPct val="100000"/>
            </a:pPr>
            <a:r>
              <a:rPr lang="hu-HU" sz="1600" dirty="0"/>
              <a:t>Nem kezeli a beszállítók igazolásait és ajánlatait</a:t>
            </a:r>
          </a:p>
          <a:p>
            <a:pPr lvl="1">
              <a:buSzPct val="100000"/>
            </a:pPr>
            <a:r>
              <a:rPr lang="hu-HU" sz="1600" dirty="0"/>
              <a:t>Ügyfelekhez kapcsolódó keretszerződések általi determinációk</a:t>
            </a:r>
          </a:p>
          <a:p>
            <a:pPr lvl="1">
              <a:buSzPct val="100000"/>
            </a:pPr>
            <a:r>
              <a:rPr lang="hu-HU" sz="1600" dirty="0"/>
              <a:t>Kedvezményrendszer hiánya</a:t>
            </a:r>
            <a:endParaRPr lang="en-US" sz="16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A4A0EC3-247C-1769-06CE-F94B770C7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46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CFD6-A9BB-41C4-9C41-A3AAC218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F32415-2475-ADF9-1819-748431F9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Alapvetések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2DB7836-142E-9F38-8FEB-A9E9E4DB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78EB336-1A3B-7702-EFE8-68E1CAEB35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3072F3D-90B9-83D5-8941-6F323385010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>
              <a:buSzPct val="100000"/>
            </a:pPr>
            <a:r>
              <a:rPr lang="hu-HU" sz="1600" dirty="0"/>
              <a:t>Mit tekintünk a működés alapjának?</a:t>
            </a:r>
          </a:p>
          <a:p>
            <a:pPr lvl="2">
              <a:buSzPct val="100000"/>
            </a:pPr>
            <a:r>
              <a:rPr lang="hu-HU" sz="1600" dirty="0"/>
              <a:t>Projekteket</a:t>
            </a:r>
          </a:p>
          <a:p>
            <a:pPr lvl="1">
              <a:buSzPct val="100000"/>
            </a:pPr>
            <a:r>
              <a:rPr lang="hu-HU" sz="1600" dirty="0"/>
              <a:t>Mit nevezünk egy projektnek?</a:t>
            </a:r>
          </a:p>
          <a:p>
            <a:pPr lvl="2">
              <a:buSzPct val="100000"/>
            </a:pPr>
            <a:r>
              <a:rPr lang="hu-HU" sz="1600" dirty="0"/>
              <a:t>Egy olyan komplex szolgáltatási csomagot, amely egy szerződés keretein belül értelmezhető / kiajánlható</a:t>
            </a:r>
          </a:p>
          <a:p>
            <a:pPr lvl="3">
              <a:buSzPct val="100000"/>
            </a:pPr>
            <a:r>
              <a:rPr lang="hu-HU" sz="1600" dirty="0"/>
              <a:t>(vagy több szerződésben </a:t>
            </a:r>
            <a:r>
              <a:rPr lang="hu-HU" sz="1600" dirty="0" err="1"/>
              <a:t>tartalmilag</a:t>
            </a:r>
            <a:r>
              <a:rPr lang="hu-HU" sz="1600" dirty="0"/>
              <a:t> egyértelműen egybekapcsolható)</a:t>
            </a:r>
          </a:p>
          <a:p>
            <a:pPr lvl="2">
              <a:buSzPct val="100000"/>
            </a:pPr>
            <a:r>
              <a:rPr lang="hu-HU" sz="1600" dirty="0"/>
              <a:t>Ebből következően: egy projekt tartalmazhat többféle módszertant, többféle kivitelezési módot, többféle szolgáltatást, több országot, több hullámot</a:t>
            </a:r>
          </a:p>
          <a:p>
            <a:pPr lvl="1">
              <a:buSzPct val="100000"/>
            </a:pPr>
            <a:r>
              <a:rPr lang="hu-HU" sz="1600" dirty="0"/>
              <a:t>Maximum egy éves időtartamú lehet – Ez nem biztos, hogy így lesz</a:t>
            </a:r>
          </a:p>
          <a:p>
            <a:pPr lvl="2">
              <a:buSzPct val="100000"/>
            </a:pPr>
            <a:r>
              <a:rPr lang="hu-HU" sz="1600" dirty="0"/>
              <a:t>Kezelni kell az üzleti év fogalmát ügyfelenként és a cégnél egyaránt</a:t>
            </a:r>
            <a:endParaRPr lang="en-US" sz="16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449DCEE-B100-6AAF-E03A-98493D12B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22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A225-A01D-9C35-2570-B9805828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B24AF1-D14B-763F-754D-D8E6876B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Célok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45FAF4F-A4C4-1AB6-F5E6-990ED65D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BCD39A7-9FEB-790F-7A0A-80926B195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69DBC6E-D70E-D47E-D255-23210B27725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>
              <a:buSzPct val="100000"/>
            </a:pPr>
            <a:r>
              <a:rPr lang="hu-HU" sz="1600" dirty="0"/>
              <a:t>Olyan nyilvántartás megalkotása:</a:t>
            </a:r>
          </a:p>
          <a:p>
            <a:pPr lvl="2">
              <a:buSzPct val="100000"/>
            </a:pPr>
            <a:r>
              <a:rPr lang="hu-HU" sz="1600" dirty="0"/>
              <a:t>Ami lefedi a szolgáltatásainkat</a:t>
            </a:r>
          </a:p>
          <a:p>
            <a:pPr lvl="2">
              <a:buSzPct val="100000"/>
            </a:pPr>
            <a:r>
              <a:rPr lang="hu-HU" sz="1600" dirty="0"/>
              <a:t>Amiből egyértelműen és kézi beavatkozás nélkül, naprakész management KPI-ok olvashatóak</a:t>
            </a:r>
          </a:p>
          <a:p>
            <a:pPr lvl="2">
              <a:buSzPct val="100000"/>
            </a:pPr>
            <a:r>
              <a:rPr lang="hu-HU" sz="1600" dirty="0"/>
              <a:t>Alvállalkozók hozzákapcsolása (</a:t>
            </a:r>
            <a:r>
              <a:rPr lang="hu-HU" sz="1600" dirty="0" err="1"/>
              <a:t>PO</a:t>
            </a:r>
            <a:r>
              <a:rPr lang="hu-HU" sz="1600" dirty="0"/>
              <a:t> és TIG)</a:t>
            </a:r>
          </a:p>
          <a:p>
            <a:pPr lvl="2">
              <a:buSzPct val="100000"/>
            </a:pPr>
            <a:r>
              <a:rPr lang="hu-HU" sz="1600" dirty="0"/>
              <a:t>Árazáshoz automatikus ajánlásokat tesz (előkalkuláció és utókalkuláció)</a:t>
            </a:r>
          </a:p>
          <a:p>
            <a:pPr lvl="2">
              <a:buSzPct val="100000"/>
            </a:pPr>
            <a:r>
              <a:rPr lang="hu-HU" sz="1600" dirty="0"/>
              <a:t>Kedvezményrendszereket és kedvezményeket nyilvántartja</a:t>
            </a:r>
          </a:p>
          <a:p>
            <a:pPr lvl="2">
              <a:buSzPct val="100000"/>
            </a:pPr>
            <a:endParaRPr lang="hu-HU" sz="1600" dirty="0"/>
          </a:p>
          <a:p>
            <a:pPr lvl="1">
              <a:buSzPct val="100000"/>
            </a:pPr>
            <a:r>
              <a:rPr lang="hu-HU" sz="1600" dirty="0"/>
              <a:t>NEM CÉL integrálni:</a:t>
            </a:r>
          </a:p>
          <a:p>
            <a:pPr lvl="2">
              <a:buSzPct val="100000"/>
            </a:pPr>
            <a:r>
              <a:rPr lang="hu-HU" sz="1600" dirty="0"/>
              <a:t>Projekt managementet</a:t>
            </a:r>
          </a:p>
          <a:p>
            <a:pPr lvl="2">
              <a:buSzPct val="100000"/>
            </a:pPr>
            <a:r>
              <a:rPr lang="hu-HU" sz="1600" dirty="0"/>
              <a:t>Projektindítót</a:t>
            </a:r>
          </a:p>
          <a:p>
            <a:pPr lvl="2">
              <a:buSzPct val="100000"/>
            </a:pPr>
            <a:r>
              <a:rPr lang="hu-HU" sz="1600" dirty="0"/>
              <a:t>Ügyfélnyilvántartást</a:t>
            </a:r>
          </a:p>
          <a:p>
            <a:pPr lvl="2">
              <a:buSzPct val="100000"/>
            </a:pPr>
            <a:r>
              <a:rPr lang="hu-HU" sz="1600" dirty="0"/>
              <a:t>Munkaidőnyilvántartást</a:t>
            </a:r>
          </a:p>
          <a:p>
            <a:pPr lvl="2">
              <a:buSzPct val="100000"/>
            </a:pPr>
            <a:r>
              <a:rPr lang="hu-HU" sz="1600" dirty="0"/>
              <a:t>Szabadság nyilvántartást</a:t>
            </a:r>
          </a:p>
          <a:p>
            <a:pPr lvl="1">
              <a:buSzPct val="100000"/>
            </a:pPr>
            <a:endParaRPr lang="en-US" sz="16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6554C5-0446-780E-67E3-14433BC9C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4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48CA-1D74-BA52-ACD6-F4BEF383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1C42BD24-7AA5-1E46-094A-86714B5483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Megvalósítás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CB4A526-12EC-5D13-1536-A3724DBC9E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57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8873-0FC0-4BCC-89D9-EDF9083A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B82200-E068-D80F-A603-B849DADE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Projektek felbontása – kiindulás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A6075DD-E26C-944E-0163-AFACD588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1D91B73-ADD8-8908-4DD8-EEF6C8D2B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A projekt összetettségétől függően, szabadon kapcsolható és kombinálható felületek összessége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A66B28F-E130-D379-C4C5-1735D4A1A67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62925" lvl="2">
              <a:buSzPct val="100000"/>
            </a:pPr>
            <a:r>
              <a:rPr lang="hu-HU" sz="1600" dirty="0"/>
              <a:t>Egy munkalapról indulunk</a:t>
            </a:r>
          </a:p>
          <a:p>
            <a:pPr marL="362925" lvl="2">
              <a:buSzPct val="100000"/>
            </a:pPr>
            <a:r>
              <a:rPr lang="hu-HU" sz="1600" dirty="0"/>
              <a:t>Azt multiplikálni lehet:</a:t>
            </a:r>
          </a:p>
          <a:p>
            <a:pPr marL="534375" lvl="3" indent="-171450">
              <a:buSzPct val="100000"/>
            </a:pPr>
            <a:r>
              <a:rPr lang="hu-HU" sz="1600" dirty="0"/>
              <a:t>Országok száma</a:t>
            </a:r>
          </a:p>
          <a:p>
            <a:pPr lvl="4">
              <a:buSzPct val="100000"/>
            </a:pPr>
            <a:r>
              <a:rPr lang="hu-HU" sz="1600" dirty="0"/>
              <a:t>Kutatási modulok / módszertan szerint</a:t>
            </a:r>
          </a:p>
          <a:p>
            <a:pPr lvl="4">
              <a:buSzPct val="100000"/>
            </a:pPr>
            <a:endParaRPr lang="hu-HU" sz="1600" dirty="0"/>
          </a:p>
          <a:p>
            <a:pPr lvl="4">
              <a:buSzPct val="100000"/>
            </a:pPr>
            <a:endParaRPr lang="hu-HU" sz="1600" dirty="0"/>
          </a:p>
          <a:p>
            <a:pPr lvl="2">
              <a:buSzPct val="100000"/>
            </a:pPr>
            <a:r>
              <a:rPr lang="hu-HU" sz="1600" dirty="0"/>
              <a:t>Mire Nem alkalmas?</a:t>
            </a:r>
          </a:p>
          <a:p>
            <a:pPr lvl="3">
              <a:buSzPct val="100000"/>
            </a:pPr>
            <a:r>
              <a:rPr lang="hu-HU" sz="1600" dirty="0"/>
              <a:t>A keretszerződéseket nem visszük fel, csak ügyfelenként jelöljük a létét és használatát</a:t>
            </a:r>
          </a:p>
          <a:p>
            <a:pPr lvl="1">
              <a:buSzPct val="100000"/>
            </a:pPr>
            <a:endParaRPr lang="en-US" sz="12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AD91DA9-821E-90E7-86E4-92C1B68EE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18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F079-AA0F-2985-50D1-E57BD756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7CBB4D-827D-4623-5268-391BD271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Projektek felbontása – tényezők szintezése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FF3369C-C047-A2A1-615D-3C726712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E1A6AAD-2CBE-BAEC-E3E0-D79DCCB4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Kell egy lap…, amit majd országok szerint duplikálunk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290D6A9-6D6D-7AB7-B44B-3DB365EAD31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>
              <a:buSzPct val="100000"/>
            </a:pPr>
            <a:r>
              <a:rPr lang="hu-HU" sz="1200" dirty="0"/>
              <a:t>Domain</a:t>
            </a:r>
          </a:p>
          <a:p>
            <a:pPr lvl="1">
              <a:buSzPct val="100000"/>
            </a:pPr>
            <a:r>
              <a:rPr lang="hu-HU" sz="1200" dirty="0"/>
              <a:t>Megrendelő</a:t>
            </a:r>
          </a:p>
          <a:p>
            <a:pPr lvl="2">
              <a:buSzPct val="100000"/>
            </a:pPr>
            <a:r>
              <a:rPr lang="hu-HU" sz="1200" dirty="0"/>
              <a:t>Tartozik e hozzá </a:t>
            </a:r>
            <a:r>
              <a:rPr lang="hu-HU" sz="1200" dirty="0" err="1"/>
              <a:t>ratecard</a:t>
            </a:r>
            <a:r>
              <a:rPr lang="hu-HU" sz="1200" dirty="0"/>
              <a:t> / keretszerződés</a:t>
            </a:r>
          </a:p>
          <a:p>
            <a:pPr lvl="1">
              <a:buSzPct val="100000"/>
            </a:pPr>
            <a:r>
              <a:rPr lang="hu-HU" sz="1200" dirty="0"/>
              <a:t>Földrajzi tagoltság:</a:t>
            </a:r>
          </a:p>
          <a:p>
            <a:pPr lvl="2">
              <a:buSzPct val="100000"/>
            </a:pPr>
            <a:r>
              <a:rPr lang="hu-HU" sz="1200" dirty="0"/>
              <a:t>Országok száma (klónozás):</a:t>
            </a:r>
          </a:p>
          <a:p>
            <a:pPr lvl="3">
              <a:buSzPct val="100000"/>
            </a:pPr>
            <a:r>
              <a:rPr lang="hu-HU" sz="1200" dirty="0"/>
              <a:t>Kutatási modul / Módszertan: </a:t>
            </a:r>
          </a:p>
          <a:p>
            <a:pPr lvl="4">
              <a:buSzPct val="100000"/>
            </a:pPr>
            <a:r>
              <a:rPr lang="hu-HU" sz="1200" dirty="0"/>
              <a:t>Kvalitatív</a:t>
            </a:r>
          </a:p>
          <a:p>
            <a:pPr lvl="4">
              <a:buSzPct val="100000"/>
            </a:pPr>
            <a:r>
              <a:rPr lang="hu-HU" sz="1200" dirty="0"/>
              <a:t>Kvantitatív</a:t>
            </a:r>
          </a:p>
          <a:p>
            <a:pPr lvl="4">
              <a:buSzPct val="100000"/>
            </a:pPr>
            <a:r>
              <a:rPr lang="hu-HU" sz="1200" dirty="0"/>
              <a:t>Másodelemzés</a:t>
            </a:r>
          </a:p>
          <a:p>
            <a:pPr lvl="4">
              <a:buSzPct val="100000"/>
            </a:pPr>
            <a:r>
              <a:rPr lang="hu-HU" sz="1200" dirty="0"/>
              <a:t>Kulturális </a:t>
            </a:r>
            <a:r>
              <a:rPr lang="hu-HU" sz="1200" dirty="0" err="1"/>
              <a:t>insightment</a:t>
            </a:r>
            <a:r>
              <a:rPr lang="hu-HU" sz="1200" dirty="0"/>
              <a:t> (benne a Szemiotika)</a:t>
            </a:r>
          </a:p>
          <a:p>
            <a:pPr lvl="4">
              <a:buSzPct val="100000"/>
            </a:pPr>
            <a:r>
              <a:rPr lang="hu-HU" sz="1200" dirty="0"/>
              <a:t>Design Sprint /co-</a:t>
            </a:r>
            <a:r>
              <a:rPr lang="hu-HU" sz="1200" dirty="0" err="1"/>
              <a:t>creation</a:t>
            </a:r>
            <a:r>
              <a:rPr lang="hu-HU" sz="1200" dirty="0"/>
              <a:t> / </a:t>
            </a:r>
            <a:r>
              <a:rPr lang="hu-HU" sz="1200" dirty="0" err="1"/>
              <a:t>super</a:t>
            </a:r>
            <a:r>
              <a:rPr lang="hu-HU" sz="1200" dirty="0"/>
              <a:t> </a:t>
            </a:r>
            <a:r>
              <a:rPr lang="hu-HU" sz="1200" dirty="0" err="1"/>
              <a:t>clinic</a:t>
            </a:r>
            <a:endParaRPr lang="hu-HU" sz="1200" dirty="0"/>
          </a:p>
          <a:p>
            <a:pPr lvl="4">
              <a:buSzPct val="100000"/>
            </a:pPr>
            <a:r>
              <a:rPr lang="hu-HU" sz="1200" dirty="0"/>
              <a:t>TGI</a:t>
            </a:r>
          </a:p>
          <a:p>
            <a:pPr lvl="4" fontAlgn="b">
              <a:buSzPct val="100000"/>
            </a:pPr>
            <a:r>
              <a:rPr lang="hu-HU" sz="1200" dirty="0"/>
              <a:t>Szoftver (pl. </a:t>
            </a:r>
            <a:r>
              <a:rPr lang="hu-HU" sz="1200" dirty="0" err="1"/>
              <a:t>WDBA</a:t>
            </a:r>
            <a:r>
              <a:rPr lang="hu-HU" sz="1200" dirty="0"/>
              <a:t>)</a:t>
            </a:r>
          </a:p>
          <a:p>
            <a:pPr lvl="4" fontAlgn="b">
              <a:buSzPct val="100000"/>
            </a:pPr>
            <a:r>
              <a:rPr lang="hu-HU" sz="1200" dirty="0"/>
              <a:t>Tréning</a:t>
            </a:r>
          </a:p>
          <a:p>
            <a:pPr lvl="3">
              <a:buSzPct val="100000"/>
            </a:pPr>
            <a:endParaRPr lang="hu-HU" sz="12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3F605F6-41FF-7DF1-9285-FA1E3F66CB3C}"/>
              </a:ext>
            </a:extLst>
          </p:cNvPr>
          <p:cNvSpPr txBox="1"/>
          <p:nvPr/>
        </p:nvSpPr>
        <p:spPr>
          <a:xfrm>
            <a:off x="4765709" y="3844002"/>
            <a:ext cx="55966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600" dirty="0"/>
              <a:t>Mindegyikből maximum egyet</a:t>
            </a:r>
          </a:p>
          <a:p>
            <a:r>
              <a:rPr lang="hu-HU" sz="1600" dirty="0"/>
              <a:t>De bármennyit és bármilyen formában kombinálva</a:t>
            </a:r>
            <a:endParaRPr lang="en-US" sz="1600" dirty="0" err="1"/>
          </a:p>
        </p:txBody>
      </p:sp>
      <p:sp>
        <p:nvSpPr>
          <p:cNvPr id="7" name="Jobb oldali kapcsos zárójel 6">
            <a:extLst>
              <a:ext uri="{FF2B5EF4-FFF2-40B4-BE49-F238E27FC236}">
                <a16:creationId xmlns:a16="http://schemas.microsoft.com/office/drawing/2014/main" id="{256183FE-30B0-DC84-2D95-DA59C41B2075}"/>
              </a:ext>
            </a:extLst>
          </p:cNvPr>
          <p:cNvSpPr/>
          <p:nvPr/>
        </p:nvSpPr>
        <p:spPr>
          <a:xfrm>
            <a:off x="4133461" y="3032449"/>
            <a:ext cx="494523" cy="2115551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4C424A85-6517-ADF6-F3BB-0376A490E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41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C8EC-0071-D0EB-843D-8F9841B4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B6AD52-83C4-12A7-285F-344146E6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Projektek felbontása – tényezők szintezése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4198F56-14B3-BDE1-DBD7-E1735720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411D3B9-F787-F6B0-C58B-36397501ED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Kell egy lap…, amit majd országok szerint duplikálunk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A9E8BC7-BA38-9348-DD4F-DE24952F4BF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lvl="1" indent="0">
              <a:buSzPct val="100000"/>
              <a:buNone/>
            </a:pPr>
            <a:r>
              <a:rPr lang="hu-HU" sz="1200" dirty="0"/>
              <a:t>Minden módszertani lábhoz tartozik: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Prezentáció - sokszorozható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Elemzés /adatfeldolgozás – sokszorozható – összetett elemzés - 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Vizualizáció (automatizált riport, </a:t>
            </a:r>
            <a:r>
              <a:rPr lang="hu-HU" sz="1200" dirty="0" err="1"/>
              <a:t>scorecard</a:t>
            </a:r>
            <a:r>
              <a:rPr lang="hu-HU" sz="1200" dirty="0"/>
              <a:t>, </a:t>
            </a:r>
            <a:r>
              <a:rPr lang="hu-HU" sz="1200" dirty="0" err="1"/>
              <a:t>BI</a:t>
            </a:r>
            <a:r>
              <a:rPr lang="hu-HU" sz="1200" dirty="0"/>
              <a:t>, stb.) - sokszorozható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Terepmunka / adatfelvétel  - sokszorozható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Workshop - sokszorozható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Tanácsadás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Költség</a:t>
            </a:r>
          </a:p>
          <a:p>
            <a:pPr lvl="3" fontAlgn="b">
              <a:spcBef>
                <a:spcPts val="300"/>
              </a:spcBef>
              <a:buSzPct val="100000"/>
            </a:pPr>
            <a:r>
              <a:rPr lang="hu-HU" sz="1200" dirty="0"/>
              <a:t>Külső beszállítók / alvállalkozók</a:t>
            </a:r>
          </a:p>
          <a:p>
            <a:pPr lvl="3" fontAlgn="b">
              <a:spcBef>
                <a:spcPts val="300"/>
              </a:spcBef>
              <a:buSzPct val="100000"/>
            </a:pPr>
            <a:r>
              <a:rPr lang="hu-HU" sz="1200" dirty="0"/>
              <a:t>Kantar </a:t>
            </a:r>
            <a:r>
              <a:rPr lang="hu-HU" sz="1200" dirty="0" err="1"/>
              <a:t>royalty</a:t>
            </a:r>
            <a:endParaRPr lang="hu-HU" sz="1200" dirty="0"/>
          </a:p>
          <a:p>
            <a:pPr lvl="3" fontAlgn="b">
              <a:spcBef>
                <a:spcPts val="300"/>
              </a:spcBef>
              <a:buSzPct val="100000"/>
            </a:pPr>
            <a:r>
              <a:rPr lang="hu-HU" sz="1200" dirty="0"/>
              <a:t>Belső szolgáltatás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Kiajánlási ár</a:t>
            </a:r>
          </a:p>
          <a:p>
            <a:pPr lvl="3" fontAlgn="b">
              <a:spcBef>
                <a:spcPts val="300"/>
              </a:spcBef>
              <a:buSzPct val="100000"/>
            </a:pPr>
            <a:r>
              <a:rPr lang="hu-HU" sz="1200" dirty="0"/>
              <a:t>Javasolt és automatikusan kalkulált (ehhez a különböző költségelemek és standard óradíjak importálása)</a:t>
            </a:r>
          </a:p>
          <a:p>
            <a:pPr lvl="3" fontAlgn="b">
              <a:spcBef>
                <a:spcPts val="300"/>
              </a:spcBef>
              <a:buSzPct val="100000"/>
            </a:pPr>
            <a:r>
              <a:rPr lang="hu-HU" sz="1200" dirty="0"/>
              <a:t>Tényleges ár</a:t>
            </a:r>
          </a:p>
          <a:p>
            <a:pPr lvl="4" fontAlgn="b">
              <a:spcBef>
                <a:spcPts val="300"/>
              </a:spcBef>
              <a:buSzPct val="100000"/>
            </a:pPr>
            <a:r>
              <a:rPr lang="hu-HU" sz="1200" dirty="0"/>
              <a:t>Tartalmazza a kedvezményeket / keretszerződéses árak szerint megadott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Időzítés</a:t>
            </a:r>
          </a:p>
          <a:p>
            <a:pPr lvl="2" fontAlgn="b">
              <a:spcBef>
                <a:spcPts val="300"/>
              </a:spcBef>
              <a:buSzPct val="100000"/>
            </a:pPr>
            <a:r>
              <a:rPr lang="hu-HU" sz="1200" dirty="0"/>
              <a:t>Fizetési ütemezés</a:t>
            </a:r>
          </a:p>
          <a:p>
            <a:pPr lvl="3">
              <a:buSzPct val="100000"/>
            </a:pPr>
            <a:endParaRPr lang="hu-HU" sz="1200" dirty="0"/>
          </a:p>
          <a:p>
            <a:pPr lvl="1">
              <a:buSzPct val="100000"/>
            </a:pPr>
            <a:endParaRPr lang="en-US" sz="120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7C8C45-3D2D-C3B7-E4AA-979EBFC96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23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78975-3B2D-712A-B803-28AAA51F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Nyíl: ötszög 29">
            <a:extLst>
              <a:ext uri="{FF2B5EF4-FFF2-40B4-BE49-F238E27FC236}">
                <a16:creationId xmlns:a16="http://schemas.microsoft.com/office/drawing/2014/main" id="{0C1A072D-5EAE-A05E-8E19-DCDEF023DABF}"/>
              </a:ext>
            </a:extLst>
          </p:cNvPr>
          <p:cNvSpPr/>
          <p:nvPr/>
        </p:nvSpPr>
        <p:spPr bwMode="ltGray">
          <a:xfrm>
            <a:off x="9001510" y="1467265"/>
            <a:ext cx="1766086" cy="3446567"/>
          </a:xfrm>
          <a:prstGeom prst="homePlate">
            <a:avLst>
              <a:gd name="adj" fmla="val 1895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hu-HU" sz="1600" b="0" dirty="0" err="1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7BFFF291-343A-62AC-238C-860AAC10B3AC}"/>
              </a:ext>
            </a:extLst>
          </p:cNvPr>
          <p:cNvSpPr txBox="1"/>
          <p:nvPr/>
        </p:nvSpPr>
        <p:spPr>
          <a:xfrm flipH="1">
            <a:off x="9027785" y="904370"/>
            <a:ext cx="187146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600" dirty="0"/>
              <a:t>Szakasz4 </a:t>
            </a:r>
          </a:p>
          <a:p>
            <a:r>
              <a:rPr lang="hu-HU" sz="1600" dirty="0"/>
              <a:t>számlázás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66A48905-B728-6AF6-D8DB-271A7CAE54E5}"/>
              </a:ext>
            </a:extLst>
          </p:cNvPr>
          <p:cNvSpPr txBox="1"/>
          <p:nvPr/>
        </p:nvSpPr>
        <p:spPr>
          <a:xfrm flipH="1">
            <a:off x="9259229" y="1730823"/>
            <a:ext cx="1128125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200" dirty="0"/>
              <a:t>Ebben a szakaszban történik a projekt zárása. </a:t>
            </a:r>
          </a:p>
          <a:p>
            <a:r>
              <a:rPr lang="hu-HU" sz="1200" dirty="0"/>
              <a:t>Itt a modul új felhasználó veheti át a projekt adminisztrációját (pénzügyes), aki a számlázzal és fizetéssel kapcsolatos információkat viheti fel.  </a:t>
            </a:r>
          </a:p>
        </p:txBody>
      </p:sp>
      <p:sp>
        <p:nvSpPr>
          <p:cNvPr id="33" name="Ellipszis 32">
            <a:extLst>
              <a:ext uri="{FF2B5EF4-FFF2-40B4-BE49-F238E27FC236}">
                <a16:creationId xmlns:a16="http://schemas.microsoft.com/office/drawing/2014/main" id="{92BC885F-F98F-8F75-E7EF-FDCA1C31E959}"/>
              </a:ext>
            </a:extLst>
          </p:cNvPr>
          <p:cNvSpPr/>
          <p:nvPr/>
        </p:nvSpPr>
        <p:spPr bwMode="ltGray">
          <a:xfrm>
            <a:off x="10497160" y="2873293"/>
            <a:ext cx="1056310" cy="492444"/>
          </a:xfrm>
          <a:prstGeom prst="ellipse">
            <a:avLst/>
          </a:prstGeom>
          <a:solidFill>
            <a:schemeClr val="tx1">
              <a:lumMod val="75000"/>
              <a:alpha val="61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sz="1200" b="0" dirty="0">
                <a:solidFill>
                  <a:schemeClr val="bg1"/>
                </a:solidFill>
              </a:rPr>
              <a:t>ZÁRÁS</a:t>
            </a:r>
          </a:p>
        </p:txBody>
      </p:sp>
      <p:sp>
        <p:nvSpPr>
          <p:cNvPr id="24" name="Nyíl: ötszög 23">
            <a:extLst>
              <a:ext uri="{FF2B5EF4-FFF2-40B4-BE49-F238E27FC236}">
                <a16:creationId xmlns:a16="http://schemas.microsoft.com/office/drawing/2014/main" id="{667B74A9-6781-3D60-D469-E5FB83928F8E}"/>
              </a:ext>
            </a:extLst>
          </p:cNvPr>
          <p:cNvSpPr/>
          <p:nvPr/>
        </p:nvSpPr>
        <p:spPr bwMode="ltGray">
          <a:xfrm>
            <a:off x="6095785" y="1467265"/>
            <a:ext cx="2324144" cy="3446567"/>
          </a:xfrm>
          <a:prstGeom prst="homePlate">
            <a:avLst>
              <a:gd name="adj" fmla="val 1895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hu-HU" sz="1600" b="0" dirty="0" err="1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4AD3C281-3A7D-6C8D-2902-41951FF5CD76}"/>
              </a:ext>
            </a:extLst>
          </p:cNvPr>
          <p:cNvSpPr txBox="1"/>
          <p:nvPr/>
        </p:nvSpPr>
        <p:spPr>
          <a:xfrm flipH="1">
            <a:off x="6302403" y="904370"/>
            <a:ext cx="187146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600" dirty="0"/>
              <a:t>Szakasz3 </a:t>
            </a:r>
          </a:p>
          <a:p>
            <a:r>
              <a:rPr lang="hu-HU" sz="1600" dirty="0"/>
              <a:t>megvalósítás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B63DF54E-EBCC-BDB2-8F84-17E2024FD786}"/>
              </a:ext>
            </a:extLst>
          </p:cNvPr>
          <p:cNvSpPr txBox="1"/>
          <p:nvPr/>
        </p:nvSpPr>
        <p:spPr>
          <a:xfrm flipH="1">
            <a:off x="6272053" y="1620886"/>
            <a:ext cx="1711684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200" dirty="0"/>
              <a:t>A modul a megvalósítás fázisról kevesebb információt tárol. Itt rögzíteni kell, hogy ki felel a megvalósításért, azaz ki menedzselheti ezen nyilvántartó-számon futó projektet.  </a:t>
            </a:r>
          </a:p>
          <a:p>
            <a:r>
              <a:rPr lang="hu-HU" sz="1200" dirty="0"/>
              <a:t>A megvalósítás szakaszban módosul a </a:t>
            </a:r>
            <a:r>
              <a:rPr lang="hu-HU" sz="1200" dirty="0" err="1"/>
              <a:t>scope</a:t>
            </a:r>
            <a:r>
              <a:rPr lang="hu-HU" sz="1200" dirty="0"/>
              <a:t>, azt is fel kell vinni a rendszerbe, sőt hosszabb távon a projektre fordított tényleges kapacitásokat. </a:t>
            </a:r>
          </a:p>
          <a:p>
            <a:r>
              <a:rPr lang="hu-HU" sz="1200" dirty="0"/>
              <a:t>PO és TIG-ek itt kerülnek tárolásra. </a:t>
            </a:r>
          </a:p>
        </p:txBody>
      </p:sp>
      <p:sp>
        <p:nvSpPr>
          <p:cNvPr id="27" name="Ellipszis 26">
            <a:extLst>
              <a:ext uri="{FF2B5EF4-FFF2-40B4-BE49-F238E27FC236}">
                <a16:creationId xmlns:a16="http://schemas.microsoft.com/office/drawing/2014/main" id="{82FF658E-9A6D-77D8-B74D-AF47CC002B7F}"/>
              </a:ext>
            </a:extLst>
          </p:cNvPr>
          <p:cNvSpPr/>
          <p:nvPr/>
        </p:nvSpPr>
        <p:spPr bwMode="ltGray">
          <a:xfrm>
            <a:off x="8185661" y="2765441"/>
            <a:ext cx="983973" cy="700755"/>
          </a:xfrm>
          <a:prstGeom prst="ellipse">
            <a:avLst/>
          </a:prstGeom>
          <a:solidFill>
            <a:schemeClr val="accent1">
              <a:alpha val="61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hu-HU" sz="1200" b="0" dirty="0">
                <a:solidFill>
                  <a:srgbClr val="78023F"/>
                </a:solidFill>
              </a:rPr>
              <a:t>Projekt zárás</a:t>
            </a:r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22CBDB40-7685-E562-4F6D-F9EA317853AF}"/>
              </a:ext>
            </a:extLst>
          </p:cNvPr>
          <p:cNvCxnSpPr/>
          <p:nvPr/>
        </p:nvCxnSpPr>
        <p:spPr>
          <a:xfrm>
            <a:off x="8677647" y="3500181"/>
            <a:ext cx="0" cy="4700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B6228963-EE73-47E5-98A2-15192197A72A}"/>
              </a:ext>
            </a:extLst>
          </p:cNvPr>
          <p:cNvSpPr txBox="1"/>
          <p:nvPr/>
        </p:nvSpPr>
        <p:spPr>
          <a:xfrm flipH="1">
            <a:off x="8196125" y="4087264"/>
            <a:ext cx="76698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u-HU" sz="1100" b="1" dirty="0"/>
              <a:t>Nem fogadják el a projektet: </a:t>
            </a:r>
          </a:p>
          <a:p>
            <a:pPr algn="ctr"/>
            <a:r>
              <a:rPr lang="hu-HU" sz="1100" b="1" dirty="0"/>
              <a:t>zárás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127215-FCD1-F611-15E9-01B22A7F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szakaszok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C7BA490-F2CF-B924-277A-E736D813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78CE4EA-FF91-B987-4024-EFABC2C0D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1" name="Nyíl: ötszög 10">
            <a:extLst>
              <a:ext uri="{FF2B5EF4-FFF2-40B4-BE49-F238E27FC236}">
                <a16:creationId xmlns:a16="http://schemas.microsoft.com/office/drawing/2014/main" id="{21910DF6-945B-575A-94E4-C473DAB2A2CC}"/>
              </a:ext>
            </a:extLst>
          </p:cNvPr>
          <p:cNvSpPr/>
          <p:nvPr/>
        </p:nvSpPr>
        <p:spPr bwMode="ltGray">
          <a:xfrm>
            <a:off x="255093" y="1467265"/>
            <a:ext cx="2837204" cy="3446567"/>
          </a:xfrm>
          <a:prstGeom prst="homePlate">
            <a:avLst>
              <a:gd name="adj" fmla="val 1895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hu-HU" sz="1600" b="0" dirty="0" err="1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E2B6082-D530-7B19-2363-E72D5ABBC7C9}"/>
              </a:ext>
            </a:extLst>
          </p:cNvPr>
          <p:cNvSpPr txBox="1"/>
          <p:nvPr/>
        </p:nvSpPr>
        <p:spPr>
          <a:xfrm flipH="1">
            <a:off x="281369" y="904370"/>
            <a:ext cx="187146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600" dirty="0"/>
              <a:t>Szakasz1 </a:t>
            </a:r>
          </a:p>
          <a:p>
            <a:r>
              <a:rPr lang="hu-HU" sz="1600" dirty="0"/>
              <a:t>ajánlat készítés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A577AB0-B24F-A9EF-9143-BC152C4B33AC}"/>
              </a:ext>
            </a:extLst>
          </p:cNvPr>
          <p:cNvSpPr txBox="1"/>
          <p:nvPr/>
        </p:nvSpPr>
        <p:spPr>
          <a:xfrm flipH="1">
            <a:off x="400736" y="1546159"/>
            <a:ext cx="2204750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200" dirty="0"/>
              <a:t>Egy olyan modul, mely támogatja az ajánlat megírását.</a:t>
            </a:r>
          </a:p>
          <a:p>
            <a:r>
              <a:rPr lang="hu-HU" sz="1200" dirty="0"/>
              <a:t>A modul ajánlat </a:t>
            </a:r>
            <a:r>
              <a:rPr lang="hu-HU" sz="1200" b="1" dirty="0"/>
              <a:t>nyilvántartó szám létrehozásával indul</a:t>
            </a:r>
            <a:r>
              <a:rPr lang="hu-HU" sz="1200" dirty="0"/>
              <a:t>.  </a:t>
            </a:r>
            <a:br>
              <a:rPr lang="hu-HU" sz="1200" dirty="0"/>
            </a:br>
            <a:r>
              <a:rPr lang="hu-HU" sz="1200" dirty="0"/>
              <a:t>A modul ún. lépés-sorozatos felület lesz, ahol a rendszer dönti el, hogy az addig felvett dokumentumok és adatok alapján mit kér be a felhasználótól. </a:t>
            </a:r>
          </a:p>
          <a:p>
            <a:r>
              <a:rPr lang="hu-HU" sz="1200" i="1" dirty="0"/>
              <a:t>(a lépéssorozat alapjául a jelenlegi Excel táblázat szolgál)</a:t>
            </a:r>
          </a:p>
          <a:p>
            <a:r>
              <a:rPr lang="hu-HU" sz="1200" dirty="0"/>
              <a:t>A modul a felvitt adatok alapján összeállít egy ajánlat-tervezetet (beárazott tételekkel). </a:t>
            </a:r>
            <a:br>
              <a:rPr lang="hu-HU" sz="1200" dirty="0"/>
            </a:br>
            <a:r>
              <a:rPr lang="hu-HU" sz="1200" dirty="0"/>
              <a:t>A végső ajánlatot a projekt felelős rakja össze ez alapján. </a:t>
            </a:r>
          </a:p>
        </p:txBody>
      </p:sp>
      <p:sp>
        <p:nvSpPr>
          <p:cNvPr id="15" name="Nyíl: ötszög 14">
            <a:extLst>
              <a:ext uri="{FF2B5EF4-FFF2-40B4-BE49-F238E27FC236}">
                <a16:creationId xmlns:a16="http://schemas.microsoft.com/office/drawing/2014/main" id="{0625A139-AFBF-0704-BB2A-6709BE18D4B3}"/>
              </a:ext>
            </a:extLst>
          </p:cNvPr>
          <p:cNvSpPr/>
          <p:nvPr/>
        </p:nvSpPr>
        <p:spPr bwMode="ltGray">
          <a:xfrm>
            <a:off x="3550744" y="1467265"/>
            <a:ext cx="1945632" cy="3446567"/>
          </a:xfrm>
          <a:prstGeom prst="homePlate">
            <a:avLst>
              <a:gd name="adj" fmla="val 1895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hu-HU" sz="1600" b="0" dirty="0" err="1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DFEA63D-CD47-0F10-18F3-E4C98EBC3A1E}"/>
              </a:ext>
            </a:extLst>
          </p:cNvPr>
          <p:cNvSpPr txBox="1"/>
          <p:nvPr/>
        </p:nvSpPr>
        <p:spPr>
          <a:xfrm flipH="1">
            <a:off x="3577019" y="904370"/>
            <a:ext cx="187146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600" dirty="0"/>
              <a:t>Szakasz2 </a:t>
            </a:r>
          </a:p>
          <a:p>
            <a:r>
              <a:rPr lang="hu-HU" sz="1600" dirty="0"/>
              <a:t>ajánlat véglegesítés</a:t>
            </a:r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14F2C244-265D-1002-73CD-5F40E3887EE6}"/>
              </a:ext>
            </a:extLst>
          </p:cNvPr>
          <p:cNvSpPr/>
          <p:nvPr/>
        </p:nvSpPr>
        <p:spPr bwMode="ltGray">
          <a:xfrm>
            <a:off x="2484182" y="2840170"/>
            <a:ext cx="1187865" cy="700755"/>
          </a:xfrm>
          <a:prstGeom prst="ellipse">
            <a:avLst/>
          </a:prstGeom>
          <a:solidFill>
            <a:schemeClr val="accent1">
              <a:alpha val="61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sz="1200" b="0" dirty="0">
                <a:solidFill>
                  <a:srgbClr val="78023F"/>
                </a:solidFill>
              </a:rPr>
              <a:t>Ajánlat kiküldése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0BE7816-AEFD-A03A-609B-3CC20E968A58}"/>
              </a:ext>
            </a:extLst>
          </p:cNvPr>
          <p:cNvSpPr txBox="1"/>
          <p:nvPr/>
        </p:nvSpPr>
        <p:spPr>
          <a:xfrm flipH="1">
            <a:off x="3707831" y="1701519"/>
            <a:ext cx="1425482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u-HU" sz="1200" dirty="0"/>
              <a:t>Egy olyan modul, az ajánlat véglegesítését támogatja. </a:t>
            </a:r>
          </a:p>
          <a:p>
            <a:r>
              <a:rPr lang="hu-HU" sz="1200" dirty="0"/>
              <a:t>A modulnak tudnia kell, hogy mely tételek nem módosíthatók és melyik igen. </a:t>
            </a:r>
          </a:p>
          <a:p>
            <a:r>
              <a:rPr lang="hu-HU" sz="1200" dirty="0"/>
              <a:t>A modulnak tárolnia kell a különböző elküldött ajánlat verziókat, illetve </a:t>
            </a:r>
            <a:r>
              <a:rPr lang="hu-HU" sz="1200" dirty="0" err="1"/>
              <a:t>alvállakozóktól</a:t>
            </a:r>
            <a:r>
              <a:rPr lang="hu-HU" sz="1200" dirty="0"/>
              <a:t> érkező ajánlat verziókat.  </a:t>
            </a: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ADE24C51-C9FC-F9E2-56DE-8C6EE92F5F05}"/>
              </a:ext>
            </a:extLst>
          </p:cNvPr>
          <p:cNvSpPr/>
          <p:nvPr/>
        </p:nvSpPr>
        <p:spPr bwMode="ltGray">
          <a:xfrm>
            <a:off x="5055170" y="2765441"/>
            <a:ext cx="1201759" cy="700755"/>
          </a:xfrm>
          <a:prstGeom prst="ellipse">
            <a:avLst/>
          </a:prstGeom>
          <a:solidFill>
            <a:schemeClr val="accent1">
              <a:alpha val="61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sz="1200" b="0" dirty="0">
                <a:solidFill>
                  <a:srgbClr val="78023F"/>
                </a:solidFill>
              </a:rPr>
              <a:t>Ajánlat elfogadás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945991F8-9254-311F-9C03-DE62A7A8532E}"/>
              </a:ext>
            </a:extLst>
          </p:cNvPr>
          <p:cNvCxnSpPr/>
          <p:nvPr/>
        </p:nvCxnSpPr>
        <p:spPr>
          <a:xfrm>
            <a:off x="3092297" y="3606325"/>
            <a:ext cx="0" cy="4700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6450D028-5E9C-9BC6-ACBE-3F955991E5BA}"/>
              </a:ext>
            </a:extLst>
          </p:cNvPr>
          <p:cNvSpPr txBox="1"/>
          <p:nvPr/>
        </p:nvSpPr>
        <p:spPr>
          <a:xfrm flipH="1">
            <a:off x="2768389" y="4137320"/>
            <a:ext cx="647817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u-HU" sz="1100" b="1" dirty="0"/>
              <a:t>Nincs kimenő ajánlat: zárás</a:t>
            </a:r>
          </a:p>
        </p:txBody>
      </p: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06137C91-9ECE-9CE3-1F4B-D7C621203BDF}"/>
              </a:ext>
            </a:extLst>
          </p:cNvPr>
          <p:cNvCxnSpPr/>
          <p:nvPr/>
        </p:nvCxnSpPr>
        <p:spPr>
          <a:xfrm>
            <a:off x="5679153" y="3556269"/>
            <a:ext cx="0" cy="4700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5E41E5C-E749-6C49-3CC1-C805B1C5930D}"/>
              </a:ext>
            </a:extLst>
          </p:cNvPr>
          <p:cNvSpPr txBox="1"/>
          <p:nvPr/>
        </p:nvSpPr>
        <p:spPr>
          <a:xfrm flipH="1">
            <a:off x="5290400" y="4087264"/>
            <a:ext cx="76698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u-HU" sz="1100" b="1" dirty="0"/>
              <a:t>Nincs elfogadott ajánlat: zárás</a:t>
            </a:r>
          </a:p>
        </p:txBody>
      </p:sp>
    </p:spTree>
    <p:extLst>
      <p:ext uri="{BB962C8B-B14F-4D97-AF65-F5344CB8AC3E}">
        <p14:creationId xmlns:p14="http://schemas.microsoft.com/office/powerpoint/2010/main" val="1556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ID" val="711"/>
  <p:tag name="EXCLUDEHIDDENSLIDES" val="False"/>
  <p:tag name="NUMBEROFPAGES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report template 16x9 PREZIHEZ  -  Írásvédett" id="{6EF85E95-3969-4DFC-A977-D2EA1D1C0625}" vid="{FEE4FEF2-1039-4707-9F2E-B803513F3697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rgbClr val="71717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report template 16x9 PREZIHEZ  -  Írásvédett" id="{6EF85E95-3969-4DFC-A977-D2EA1D1C0625}" vid="{2F4F37E9-DA5A-4E81-9A71-1C71BE3D1141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rgbClr val="71717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report template 16x9 PREZIHEZ  -  Írásvédett" id="{6EF85E95-3969-4DFC-A977-D2EA1D1C0625}" vid="{7CC86722-8FF1-40C0-A71C-54B2885A51F0}"/>
    </a:ext>
  </a:extLst>
</a:theme>
</file>

<file path=ppt/theme/theme4.xml><?xml version="1.0" encoding="utf-8"?>
<a:theme xmlns:a="http://schemas.openxmlformats.org/drawingml/2006/main" name="OLD_25891204_OLD_843039857_Kantar TNS PowerPoint template 16x9 - for reports and proposals">
  <a:themeElements>
    <a:clrScheme name="Kantar TNS colours">
      <a:dk1>
        <a:srgbClr val="717171"/>
      </a:dk1>
      <a:lt1>
        <a:srgbClr val="FFFFFF"/>
      </a:lt1>
      <a:dk2>
        <a:srgbClr val="81C341"/>
      </a:dk2>
      <a:lt2>
        <a:srgbClr val="E5007E"/>
      </a:lt2>
      <a:accent1>
        <a:srgbClr val="C50017"/>
      </a:accent1>
      <a:accent2>
        <a:srgbClr val="F7911E"/>
      </a:accent2>
      <a:accent3>
        <a:srgbClr val="EF5205"/>
      </a:accent3>
      <a:accent4>
        <a:srgbClr val="7A2280"/>
      </a:accent4>
      <a:accent5>
        <a:srgbClr val="3EB1CC"/>
      </a:accent5>
      <a:accent6>
        <a:srgbClr val="4655A5"/>
      </a:accent6>
      <a:hlink>
        <a:srgbClr val="E5007E"/>
      </a:hlink>
      <a:folHlink>
        <a:srgbClr val="E5007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antar TNS PowerPoint template 16x9 - for reports and proposals.potx" id="{D2403878-6EEF-42A1-BF3A-7105A12CA3FA}" vid="{A7D8BE89-6245-4A09-88A2-9D07EDBF68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0124B74836EC48BF76AC0B1485D8FE" ma:contentTypeVersion="2" ma:contentTypeDescription="Create a new document." ma:contentTypeScope="" ma:versionID="7ef99f3146b73b0ac456aadb94661107">
  <xsd:schema xmlns:xsd="http://www.w3.org/2001/XMLSchema" xmlns:xs="http://www.w3.org/2001/XMLSchema" xmlns:p="http://schemas.microsoft.com/office/2006/metadata/properties" xmlns:ns2="0b437f98-23ae-4433-b13b-76c2068079ae" targetNamespace="http://schemas.microsoft.com/office/2006/metadata/properties" ma:root="true" ma:fieldsID="963eca439521cf874d5dbf5bfcb44ac3" ns2:_="">
    <xsd:import namespace="0b437f98-23ae-4433-b13b-76c2068079a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437f98-23ae-4433-b13b-76c2068079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b437f98-23ae-4433-b13b-76c2068079a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E3F8E83-05DC-487A-A662-35C7C7CC3C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437f98-23ae-4433-b13b-76c2068079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Kantar TNS PowerPoint template 16x9 - for reports and proposals</Template>
  <TotalTime>13142</TotalTime>
  <Words>752</Words>
  <Application>Microsoft Office PowerPoint</Application>
  <PresentationFormat>Szélesvásznú</PresentationFormat>
  <Paragraphs>133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4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Arial</vt:lpstr>
      <vt:lpstr>Calibri</vt:lpstr>
      <vt:lpstr>Wingdings</vt:lpstr>
      <vt:lpstr>Kantar template master</vt:lpstr>
      <vt:lpstr>Content slides - no sub heading</vt:lpstr>
      <vt:lpstr>Technical</vt:lpstr>
      <vt:lpstr>OLD_25891204_OLD_843039857_Kantar TNS PowerPoint template 16x9 - for reports and proposals</vt:lpstr>
      <vt:lpstr>Projekt nyilvántartási rendszer</vt:lpstr>
      <vt:lpstr>PowerPoint-bemutató</vt:lpstr>
      <vt:lpstr>Háttér</vt:lpstr>
      <vt:lpstr>Honnan érkezünk?</vt:lpstr>
      <vt:lpstr>Alapvetések</vt:lpstr>
      <vt:lpstr>Célok</vt:lpstr>
      <vt:lpstr>PowerPoint-bemutató</vt:lpstr>
      <vt:lpstr>Projektek felbontása – kiindulás</vt:lpstr>
      <vt:lpstr>Projektek felbontása – tényezők szintezése</vt:lpstr>
      <vt:lpstr>Projektek felbontása – tényezők szintezése</vt:lpstr>
      <vt:lpstr>Projekt szakaszok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example white – title can run to two lines 24pt</dc:title>
  <dc:creator>laszlo.hegedus@kantar-hoffmann.hu</dc:creator>
  <cp:lastModifiedBy>Gyula Kovacs</cp:lastModifiedBy>
  <cp:revision>98</cp:revision>
  <dcterms:created xsi:type="dcterms:W3CDTF">2016-10-25T14:10:12Z</dcterms:created>
  <dcterms:modified xsi:type="dcterms:W3CDTF">2026-03-26T15:03:27Z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0x0101003E0124B74836EC48BF76AC0B1485D8FE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2024-01-22T11:33:21Z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8c1fb350-2578-4c6c-bea1-3e310251536e</vt:lpwstr>
  </property>
  <property fmtid="{D5CDD505-2E9C-101B-9397-08002B2CF9AE}" pid="9" name="MSIP_Label_3741da7a-79c1-417c-b408-16c0bfe99fca_ContentBits">
    <vt:lpwstr>0</vt:lpwstr>
  </property>
</Properties>
</file>